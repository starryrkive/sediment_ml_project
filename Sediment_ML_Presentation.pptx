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Machine Learning for Predicting Sediment Particle Size 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Mini-project: predict d50 and σ² from environmental measurements</a:t>
            </a:r>
          </a:p>
          <a:p>
            <a:pPr>
              <a:spcAft>
                <a:spcPts val="1200"/>
              </a:spcAft>
              <a:defRPr sz="1900"/>
            </a:pPr>
            <a:r>
              <a:t>Team members: ____________________ and ____________________</a:t>
            </a:r>
          </a:p>
          <a:p>
            <a:pPr>
              <a:spcAft>
                <a:spcPts val="1200"/>
              </a:spcAft>
              <a:defRPr sz="1900"/>
            </a:pPr>
            <a:r>
              <a:t>Course / Section: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Why are we solving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Sediment particles constantly aggregate and break apart; this is called flocculation.</a:t>
            </a:r>
          </a:p>
          <a:p>
            <a:pPr>
              <a:spcAft>
                <a:spcPts val="1200"/>
              </a:spcAft>
              <a:defRPr sz="1900"/>
            </a:pPr>
            <a:r>
              <a:t>Particle size affects settling behaviour and sediment-transport modelling.</a:t>
            </a:r>
          </a:p>
          <a:p>
            <a:pPr>
              <a:spcAft>
                <a:spcPts val="1200"/>
              </a:spcAft>
              <a:defRPr sz="1900"/>
            </a:pPr>
            <a:r>
              <a:t>Goal: predict two particle-size properties from measurements of the surrounding water and 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Reference dataset: 1,648 co-located observations from three South San Francisco Bay field campaigns.</a:t>
            </a:r>
          </a:p>
          <a:p>
            <a:pPr>
              <a:spcAft>
                <a:spcPts val="1200"/>
              </a:spcAft>
              <a:defRPr sz="1900"/>
            </a:pPr>
            <a:r>
              <a:t>Particle-size distributions were measured using a LISST-100x.</a:t>
            </a:r>
          </a:p>
          <a:p>
            <a:pPr>
              <a:spcAft>
                <a:spcPts val="1200"/>
              </a:spcAft>
              <a:defRPr sz="1900"/>
            </a:pPr>
            <a:r>
              <a:t>Inputs: salinity, wave-induced velocity, particle index of refraction, temperature, optical ratios, chlorophyll-a and tidal velocity.</a:t>
            </a:r>
          </a:p>
          <a:p>
            <a:pPr>
              <a:spcAft>
                <a:spcPts val="1200"/>
              </a:spcAft>
              <a:defRPr sz="1900"/>
            </a:pPr>
            <a:r>
              <a:t>Targets: d50 (median particle diameter) and σ² (distribution variance).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Our ML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This is a supervised regression problem because both outputs are continuous numbers.</a:t>
            </a:r>
          </a:p>
          <a:p>
            <a:pPr>
              <a:spcAft>
                <a:spcPts val="1200"/>
              </a:spcAft>
              <a:defRPr sz="1900"/>
            </a:pPr>
            <a:r>
              <a:t>Step 1: use Random Forest to estimate feature importance.</a:t>
            </a:r>
          </a:p>
          <a:p>
            <a:pPr>
              <a:spcAft>
                <a:spcPts val="1200"/>
              </a:spcAft>
              <a:defRPr sz="1900"/>
            </a:pPr>
            <a:r>
              <a:t>Step 2: use the four features selected in the reference project: S, ub, np and T.</a:t>
            </a:r>
          </a:p>
          <a:p>
            <a:pPr>
              <a:spcAft>
                <a:spcPts val="1200"/>
              </a:spcAft>
              <a:defRPr sz="1900"/>
            </a:pPr>
            <a:r>
              <a:t>Step 3: train Random Forest and compare it with Support Vector Regression (SVR).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How Random Forest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Build many decision trees instead of relying on one tree.</a:t>
            </a:r>
          </a:p>
          <a:p>
            <a:pPr>
              <a:spcAft>
                <a:spcPts val="1200"/>
              </a:spcAft>
              <a:defRPr sz="1900"/>
            </a:pPr>
            <a:r>
              <a:t>Each tree sees a slightly different sample of the training data.</a:t>
            </a:r>
          </a:p>
          <a:p>
            <a:pPr>
              <a:spcAft>
                <a:spcPts val="1200"/>
              </a:spcAft>
              <a:defRPr sz="1900"/>
            </a:pPr>
            <a:r>
              <a:t>Every tree predicts d50 or σ².</a:t>
            </a:r>
          </a:p>
          <a:p>
            <a:pPr>
              <a:spcAft>
                <a:spcPts val="1200"/>
              </a:spcAft>
              <a:defRPr sz="1900"/>
            </a:pPr>
            <a:r>
              <a:t>The forest combines the tree predictions into one final prediction.</a:t>
            </a:r>
          </a:p>
          <a:p>
            <a:pPr>
              <a:spcAft>
                <a:spcPts val="1200"/>
              </a:spcAft>
              <a:defRPr sz="1900"/>
            </a:pPr>
            <a:r>
              <a:t>It also gives feature-importance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Random Forest: 70% training data and 30% test data, with 32 trees.</a:t>
            </a:r>
          </a:p>
          <a:p>
            <a:pPr>
              <a:spcAft>
                <a:spcPts val="1200"/>
              </a:spcAft>
              <a:defRPr sz="1900"/>
            </a:pPr>
            <a:r>
              <a:t>SVR: 70% training, 15% validation and 15% test.</a:t>
            </a:r>
          </a:p>
          <a:p>
            <a:pPr>
              <a:spcAft>
                <a:spcPts val="1200"/>
              </a:spcAft>
              <a:defRPr sz="1900"/>
            </a:pPr>
            <a:r>
              <a:t>Metrics: R², MAE and RMSE.</a:t>
            </a:r>
          </a:p>
          <a:p>
            <a:pPr>
              <a:spcAft>
                <a:spcPts val="1200"/>
              </a:spcAft>
              <a:defRPr sz="1900"/>
            </a:pPr>
            <a:r>
              <a:t>R² measures agreement with the observed values; MAE and RMSE measure prediction error.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Reference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The reference study reported Random Forest R² = 0.81 for d50 and 0.75 for σ².</a:t>
            </a:r>
          </a:p>
          <a:p>
            <a:pPr>
              <a:spcAft>
                <a:spcPts val="1200"/>
              </a:spcAft>
              <a:defRPr sz="1900"/>
            </a:pPr>
            <a:r>
              <a:t>It reported SVR R² = 0.76 for d50 and 0.76 for σ².</a:t>
            </a:r>
          </a:p>
          <a:p>
            <a:pPr>
              <a:spcAft>
                <a:spcPts val="1200"/>
              </a:spcAft>
              <a:defRPr sz="1900"/>
            </a:pPr>
            <a:r>
              <a:t>These numbers are reference-study results, not results from the included synthetic demo.</a:t>
            </a:r>
          </a:p>
          <a:p>
            <a:pPr>
              <a:spcAft>
                <a:spcPts val="1200"/>
              </a:spcAft>
              <a:defRPr sz="1900"/>
            </a:pPr>
            <a:r>
              <a:t>Our final results should be generated from the actual dataset provided for the class.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Demo: what the code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Load CSV → check columns → remove missing values.</a:t>
            </a:r>
          </a:p>
          <a:p>
            <a:pPr>
              <a:spcAft>
                <a:spcPts val="1200"/>
              </a:spcAft>
              <a:defRPr sz="1900"/>
            </a:pPr>
            <a:r>
              <a:t>Calculate feature importance.</a:t>
            </a:r>
          </a:p>
          <a:p>
            <a:pPr>
              <a:spcAft>
                <a:spcPts val="1200"/>
              </a:spcAft>
              <a:defRPr sz="1900"/>
            </a:pPr>
            <a:r>
              <a:t>Train Random Forest and SVR.</a:t>
            </a:r>
          </a:p>
          <a:p>
            <a:pPr>
              <a:spcAft>
                <a:spcPts val="1200"/>
              </a:spcAft>
              <a:defRPr sz="1900"/>
            </a:pPr>
            <a:r>
              <a:t>Predict d50 and σ² on held-out data.</a:t>
            </a:r>
          </a:p>
          <a:p>
            <a:pPr>
              <a:spcAft>
                <a:spcPts val="1200"/>
              </a:spcAft>
              <a:defRPr sz="1900"/>
            </a:pPr>
            <a:r>
              <a:t>Calculate R², MAE and RMSE.</a:t>
            </a:r>
          </a:p>
          <a:p>
            <a:pPr>
              <a:spcAft>
                <a:spcPts val="1200"/>
              </a:spcAft>
              <a:defRPr sz="1900"/>
            </a:pPr>
            <a:r>
              <a:t>Save feature-importance tables and true-vs-predicted plots.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 model trained in one region may not generalize to another region.</a:t>
            </a:r>
          </a:p>
          <a:p>
            <a:pPr>
              <a:spcAft>
                <a:spcPts val="1200"/>
              </a:spcAft>
              <a:defRPr sz="1900"/>
            </a:pPr>
            <a:r>
              <a:t>The reference report itself identifies generalization as an important next question.</a:t>
            </a:r>
          </a:p>
          <a:p>
            <a:pPr>
              <a:spcAft>
                <a:spcPts val="1200"/>
              </a:spcAft>
              <a:defRPr sz="1900"/>
            </a:pPr>
            <a:r>
              <a:t>Future work: add more locations/campaigns, test cross-location performance, tune hyperparameters and examine whether important features remain stable.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Machine learning can model nonlinear relationships between environmental conditions and sediment particle properties.</a:t>
            </a:r>
          </a:p>
          <a:p>
            <a:pPr>
              <a:spcAft>
                <a:spcPts val="1200"/>
              </a:spcAft>
              <a:defRPr sz="1900"/>
            </a:pPr>
            <a:r>
              <a:t>Random Forest provides both predictions and feature-importance information.</a:t>
            </a:r>
          </a:p>
          <a:p>
            <a:pPr>
              <a:spcAft>
                <a:spcPts val="1200"/>
              </a:spcAft>
              <a:defRPr sz="1900"/>
            </a:pPr>
            <a:r>
              <a:t>SVR provides a useful comparison model.</a:t>
            </a:r>
          </a:p>
          <a:p>
            <a:pPr>
              <a:spcAft>
                <a:spcPts val="1200"/>
              </a:spcAft>
              <a:defRPr sz="1900"/>
            </a:pPr>
            <a:r>
              <a:t>The final claim should be based on results obtained from the actual project dataset.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Q&amp;A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Why regression? → The targets are continuous numbers.</a:t>
            </a:r>
          </a:p>
          <a:p>
            <a:pPr>
              <a:spcAft>
                <a:spcPts val="1200"/>
              </a:spcAft>
              <a:defRPr sz="1900"/>
            </a:pPr>
            <a:r>
              <a:t>Why Random Forest? → It captures nonlinear relationships and provides feature importance.</a:t>
            </a:r>
          </a:p>
          <a:p>
            <a:pPr>
              <a:spcAft>
                <a:spcPts val="1200"/>
              </a:spcAft>
              <a:defRPr sz="1900"/>
            </a:pPr>
            <a:r>
              <a:t>Why SVR? → It is a second regression method for comparison.</a:t>
            </a:r>
          </a:p>
          <a:p>
            <a:pPr>
              <a:spcAft>
                <a:spcPts val="1200"/>
              </a:spcAft>
              <a:defRPr sz="1900"/>
            </a:pPr>
            <a:r>
              <a:t>Why train/test split? → To check performance on unseen data.</a:t>
            </a:r>
          </a:p>
          <a:p>
            <a:pPr>
              <a:spcAft>
                <a:spcPts val="1200"/>
              </a:spcAft>
              <a:defRPr sz="1900"/>
            </a:pPr>
            <a:r>
              <a:t>What is d50? → Median particle diameter.</a:t>
            </a:r>
          </a:p>
          <a:p>
            <a:pPr>
              <a:spcAft>
                <a:spcPts val="1200"/>
              </a:spcAft>
              <a:defRPr sz="1900"/>
            </a:pPr>
            <a:r>
              <a:t>What is σ²? → Variance/spread of particle sizes.</a:t>
            </a:r>
          </a:p>
          <a:p>
            <a:pPr>
              <a:spcAft>
                <a:spcPts val="1200"/>
              </a:spcAft>
              <a:defRPr sz="1900"/>
            </a:pPr>
            <a:r>
              <a:t>What is R²? → A measure of how well predictions explain variation in the measured target.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